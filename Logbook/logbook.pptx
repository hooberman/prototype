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A0BF-FE60-5296-5496-D8377676B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2F56A-DC0A-F929-CC64-610ACA907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071B5-CDB2-5B7F-5EE8-B73529F9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07933-C718-3852-C1FF-47E0BF560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9EF1A-C8F8-FA35-D60D-33DFA7953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15A5-F849-7380-B87B-86A11F17D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96848-A1B7-5D4B-E754-E425EF8D5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FED7B-40E6-5AA5-34CF-9A405E4EA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22ABD-DF30-A213-3862-FA2EE179F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46AF1-EB8F-3277-B0AF-32C6C0FD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8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FAF7-4FC8-9045-7A6B-76F8EABB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7EC66-64B7-82A6-748F-B2E0D9A59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47907-6AFF-AE43-821D-1FF4F107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377D-04A7-D54F-171E-445D77181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EB815-4FD5-3B91-CBF2-4B587A6B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7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0776-7BDD-5B03-AA4A-AC4E9C5A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9A423-2947-D6C9-B23E-246411D6D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F3271-813B-074E-AA2B-890A08911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72F87-DE59-86E6-9AD3-CA8B91DB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112D1-8FC9-CC8E-300B-1027E7F2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E1131-9F06-F729-8A33-A061D6E0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1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FE80-5367-F748-C5E5-84107F2A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88AEB-FC28-464B-CC81-60AC73725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BC0CC-F663-946B-3F70-17EF3E1BA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848DA0-0EFB-9396-F4DC-B347814D2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498F3-130D-185C-1862-BA03A09DD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6E0BEB-064F-7F1F-37D8-09BB0A91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30D03-EC26-8EEE-D334-C7DE43D5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8D7383-91E0-705D-AE66-34A12009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29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2953E-4F33-72EE-DBB2-776738313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8D28F-BA8C-86DE-FA76-8ABEEC0BC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3125E-6BC7-1E9D-2955-8BAF3EA2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31B68-34D1-8318-9991-5A23E883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0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22521-F44D-FA58-4B3B-F0405F92E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5438B-3382-9BCB-002F-F27DA0D9A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AC333-1D8C-B95C-42ED-089251A7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DE1A-8CDA-C5DE-D450-28736331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1DC35-8F30-0CDC-EBE7-6ADDFC490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8F9DC-50FF-82F1-6EE5-B4B722BE5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A9F8B-8A6E-C072-DA56-55A17A53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23675-6A85-5FF6-CA2B-25475E56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15DC0-805C-6ED8-0C66-756E7611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1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76973-E177-2E6B-DC17-425F4751F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90092-77E0-7B5B-FCCE-47E593FC89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B1323-573D-FB63-9422-B9F92DFDD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659C1-A6B3-6E69-5E39-4D717620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36B71-6079-9F29-0BF9-38441F4C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CAB1A-7BDF-A2AF-3383-274D2DFF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0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D3C9-09E3-AC1D-8AE0-496349DFF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5B0F3-3E07-09A4-C3B8-7E417B719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5E7D5-93ED-3222-C4F6-8840E9DEA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04775-2DB6-FA52-09EF-051DF46E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CCFE8-E78E-A8B2-982A-982CE575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8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3F1D6-71A8-7BB3-792D-787389B80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91BA5A-0719-AB43-4C39-1BAAC5026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D199-F544-81BF-D07D-18F07EE1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62BE7-0F49-8141-06A4-F2B3213C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C56E5-BFE6-D215-13D7-9D702D45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7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BE088-B8CD-B6E1-98F0-D37AEA8BC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447B6-220A-6A10-94D8-757716E88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3E6DA-0CE5-43B8-0A8C-85EF26197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12690-DBC6-7B47-A0DE-9A714484F65F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976F2-B672-A77F-4708-E949BFBF5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0C26B-9295-6821-386F-66A342D5C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69E4C-F66B-6A46-9E29-F1F28A03A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4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ooberman/prototype/blob/main/Data/July1_10mins_stacked_28V_TD400.conf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ooberman/prototype/blob/main/Data/July1_10mins_stacked_28V_TD400.con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ooberman/prototype/blob/main/Data/July1_10mins_stacked_28V_TD400.con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ooberman/prototype/blob/main/Data/July1_10mins_stacked_28V_TD400.con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2097-CBAC-D1B4-2F8B-5AFD4B83A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dirty="0" err="1"/>
              <a:t>Muonix</a:t>
            </a:r>
            <a:r>
              <a:rPr lang="en-US" dirty="0"/>
              <a:t> Detector Prototype Logbook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FF450-2496-0E6D-56D7-D867FD242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Hooberman</a:t>
            </a:r>
          </a:p>
        </p:txBody>
      </p:sp>
    </p:spTree>
    <p:extLst>
      <p:ext uri="{BB962C8B-B14F-4D97-AF65-F5344CB8AC3E}">
        <p14:creationId xmlns:p14="http://schemas.microsoft.com/office/powerpoint/2010/main" val="281739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3C34-BBB6-4890-CB1A-FEED2272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9" y="151884"/>
            <a:ext cx="11417643" cy="80876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Observing First Muons – Experimental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E3461-154A-37A8-DA56-2262AF654EEF}"/>
              </a:ext>
            </a:extLst>
          </p:cNvPr>
          <p:cNvSpPr txBox="1"/>
          <p:nvPr/>
        </p:nvSpPr>
        <p:spPr>
          <a:xfrm>
            <a:off x="10676238" y="195848"/>
            <a:ext cx="1705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July 1,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611D34-A1BF-56BC-BD40-0523825EE9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81" b="6818"/>
          <a:stretch>
            <a:fillRect/>
          </a:stretch>
        </p:blipFill>
        <p:spPr>
          <a:xfrm>
            <a:off x="502119" y="2503336"/>
            <a:ext cx="3444196" cy="39092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A90227-A174-5DDD-892D-A455D9E146CE}"/>
                  </a:ext>
                </a:extLst>
              </p:cNvPr>
              <p:cNvSpPr txBox="1"/>
              <p:nvPr/>
            </p:nvSpPr>
            <p:spPr>
              <a:xfrm>
                <a:off x="4197179" y="3008870"/>
                <a:ext cx="7566453" cy="275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2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scintillator+SiPM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detectors read out with Caen DT5202</a:t>
                </a: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 2 detectors stacked on top of each other, we expect to see coincident hits from a muon passing through them</a:t>
                </a:r>
              </a:p>
              <a:p>
                <a:pPr marL="742950" lvl="1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Observe 56 events in 10 minutes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muon rate ~ 0.1 Hz</a:t>
                </a:r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 2 detectors separated, we expect to see only background</a:t>
                </a:r>
              </a:p>
              <a:p>
                <a:pPr marL="742950" lvl="1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Observe 3 events in 10 minutes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~95% of the events in stacked mode are muons, ~5% are background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A90227-A174-5DDD-892D-A455D9E14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179" y="3008870"/>
                <a:ext cx="7566453" cy="2759730"/>
              </a:xfrm>
              <a:prstGeom prst="rect">
                <a:avLst/>
              </a:prstGeom>
              <a:blipFill>
                <a:blip r:embed="rId3"/>
                <a:stretch>
                  <a:fillRect l="-670" t="-1376" b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3E9640B-E882-B6E1-5EFE-A056411A053A}"/>
              </a:ext>
            </a:extLst>
          </p:cNvPr>
          <p:cNvSpPr txBox="1"/>
          <p:nvPr/>
        </p:nvSpPr>
        <p:spPr>
          <a:xfrm flipH="1">
            <a:off x="457200" y="1304666"/>
            <a:ext cx="1878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Caen DT5202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64-channel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SiPM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readout system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F99B97-573D-1CDE-99A9-E04935109A6C}"/>
              </a:ext>
            </a:extLst>
          </p:cNvPr>
          <p:cNvCxnSpPr/>
          <p:nvPr/>
        </p:nvCxnSpPr>
        <p:spPr>
          <a:xfrm>
            <a:off x="1396314" y="2347784"/>
            <a:ext cx="0" cy="13221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DCEC7F-C8F9-C5B7-B41C-970102BE95CA}"/>
              </a:ext>
            </a:extLst>
          </p:cNvPr>
          <p:cNvCxnSpPr>
            <a:cxnSpLocks/>
          </p:cNvCxnSpPr>
          <p:nvPr/>
        </p:nvCxnSpPr>
        <p:spPr>
          <a:xfrm>
            <a:off x="2883244" y="2227996"/>
            <a:ext cx="0" cy="193623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5D5F1B-26B1-D1DA-59E6-EC1FACA8D149}"/>
                  </a:ext>
                </a:extLst>
              </p:cNvPr>
              <p:cNvSpPr txBox="1"/>
              <p:nvPr/>
            </p:nvSpPr>
            <p:spPr>
              <a:xfrm flipH="1">
                <a:off x="2310721" y="1704775"/>
                <a:ext cx="26072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</m:oMath>
                </a14:m>
                <a:r>
                  <a:rPr lang="en-US" sz="1600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(scintillator + </a:t>
                </a:r>
                <a:r>
                  <a:rPr lang="en-US" sz="1600" b="1" dirty="0" err="1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SiPM</a:t>
                </a:r>
                <a:r>
                  <a:rPr lang="en-US" sz="1600" b="1" dirty="0">
                    <a:solidFill>
                      <a:srgbClr val="00B0F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5D5F1B-26B1-D1DA-59E6-EC1FACA8D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310721" y="1704775"/>
                <a:ext cx="2607268" cy="338554"/>
              </a:xfrm>
              <a:prstGeom prst="rect">
                <a:avLst/>
              </a:prstGeom>
              <a:blipFill>
                <a:blip r:embed="rId4"/>
                <a:stretch>
                  <a:fillRect l="-966" t="-7407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29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4BA41-4FA2-45EB-AF5F-647ED9FB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C12D6A-1B73-E4C8-3FA6-3193BA5DBF92}"/>
              </a:ext>
            </a:extLst>
          </p:cNvPr>
          <p:cNvSpPr txBox="1"/>
          <p:nvPr/>
        </p:nvSpPr>
        <p:spPr>
          <a:xfrm>
            <a:off x="10676238" y="195848"/>
            <a:ext cx="1705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July 1,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467B9-2051-5050-FD12-95B40B92A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25" y="2466803"/>
            <a:ext cx="3813778" cy="3813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677CC-0C80-9B91-8B08-6FA00D500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68" y="2466803"/>
            <a:ext cx="3813778" cy="381377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58164B2-BA37-B1DD-DB6F-D4017A5F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9" y="151884"/>
            <a:ext cx="11417643" cy="80876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Observing First Muons – Results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A853BD-12E0-0A7B-412C-4B06CE7F2BD4}"/>
              </a:ext>
            </a:extLst>
          </p:cNvPr>
          <p:cNvSpPr txBox="1"/>
          <p:nvPr/>
        </p:nvSpPr>
        <p:spPr>
          <a:xfrm>
            <a:off x="428368" y="886509"/>
            <a:ext cx="630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for 10 minutes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Plot signals on channel 1 vs. channel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BD6A92-0500-FF15-8773-29A0DD09108C}"/>
              </a:ext>
            </a:extLst>
          </p:cNvPr>
          <p:cNvSpPr txBox="1"/>
          <p:nvPr/>
        </p:nvSpPr>
        <p:spPr>
          <a:xfrm>
            <a:off x="2113005" y="6336784"/>
            <a:ext cx="2335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events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3784B0-BD8E-18FC-B828-39F0646D241D}"/>
              </a:ext>
            </a:extLst>
          </p:cNvPr>
          <p:cNvSpPr txBox="1"/>
          <p:nvPr/>
        </p:nvSpPr>
        <p:spPr>
          <a:xfrm>
            <a:off x="6215278" y="6336784"/>
            <a:ext cx="2335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56 events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4C14C0-E39F-C2D7-6A8E-3E3770A12A65}"/>
              </a:ext>
            </a:extLst>
          </p:cNvPr>
          <p:cNvSpPr/>
          <p:nvPr/>
        </p:nvSpPr>
        <p:spPr>
          <a:xfrm>
            <a:off x="778476" y="2144926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180A3F-5F08-F559-B97F-DB8CAE5995DE}"/>
              </a:ext>
            </a:extLst>
          </p:cNvPr>
          <p:cNvSpPr/>
          <p:nvPr/>
        </p:nvSpPr>
        <p:spPr>
          <a:xfrm>
            <a:off x="1847334" y="2144926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7F1EFF-6B9E-7FE2-92A6-916168EAB5AD}"/>
              </a:ext>
            </a:extLst>
          </p:cNvPr>
          <p:cNvSpPr txBox="1"/>
          <p:nvPr/>
        </p:nvSpPr>
        <p:spPr>
          <a:xfrm>
            <a:off x="2916192" y="1821760"/>
            <a:ext cx="1721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unstacked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(background)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0B6E61-139F-FA92-3969-AB7FF54CA41D}"/>
              </a:ext>
            </a:extLst>
          </p:cNvPr>
          <p:cNvSpPr/>
          <p:nvPr/>
        </p:nvSpPr>
        <p:spPr>
          <a:xfrm>
            <a:off x="5251637" y="2143638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E64B25-AB31-9961-DFC7-0A67A6EB9008}"/>
              </a:ext>
            </a:extLst>
          </p:cNvPr>
          <p:cNvSpPr/>
          <p:nvPr/>
        </p:nvSpPr>
        <p:spPr>
          <a:xfrm>
            <a:off x="5251637" y="1925599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83EB1D-7A51-6B80-CBCB-2F1FC244D802}"/>
              </a:ext>
            </a:extLst>
          </p:cNvPr>
          <p:cNvSpPr txBox="1"/>
          <p:nvPr/>
        </p:nvSpPr>
        <p:spPr>
          <a:xfrm>
            <a:off x="6215278" y="1820472"/>
            <a:ext cx="300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stacked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(signal + background)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794D34-7B46-AE96-17D0-47380D34F0EC}"/>
                  </a:ext>
                </a:extLst>
              </p:cNvPr>
              <p:cNvSpPr txBox="1"/>
              <p:nvPr/>
            </p:nvSpPr>
            <p:spPr>
              <a:xfrm>
                <a:off x="8921578" y="2852355"/>
                <a:ext cx="3052119" cy="2416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b="1" dirty="0"/>
                  <a:t>Clear evidence of muons</a:t>
                </a: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56 muons / 600 seconds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rate ~ 0.1 Hz</a:t>
                </a: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ym typeface="Wingdings" pitchFamily="2" charset="2"/>
                  </a:rPr>
                  <a:t>Signal / background ~ 53/3 ~ 17:1</a:t>
                </a:r>
              </a:p>
              <a:p>
                <a:pPr marL="285750" indent="-285750"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ym typeface="Wingdings" pitchFamily="2" charset="2"/>
                  </a:rPr>
                  <a:t>Clear saturation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need to adjust gain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794D34-7B46-AE96-17D0-47380D34F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578" y="2852355"/>
                <a:ext cx="3052119" cy="2416046"/>
              </a:xfrm>
              <a:prstGeom prst="rect">
                <a:avLst/>
              </a:prstGeom>
              <a:blipFill>
                <a:blip r:embed="rId4"/>
                <a:stretch>
                  <a:fillRect l="-1245" t="-1047" r="-1660" b="-3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726E3777-9754-45EC-6842-1F7CBCB1B0AB}"/>
              </a:ext>
            </a:extLst>
          </p:cNvPr>
          <p:cNvSpPr txBox="1"/>
          <p:nvPr/>
        </p:nvSpPr>
        <p:spPr>
          <a:xfrm>
            <a:off x="7486058" y="922604"/>
            <a:ext cx="45843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bias voltage 28V, trigger threshold 400</a:t>
            </a:r>
          </a:p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full config at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July1_10mins_stacked_28V_TD400.conf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25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3B80-9785-0E39-A438-8DBB5008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9BB86E-A27D-3C7F-960B-A04E56E0E71F}"/>
              </a:ext>
            </a:extLst>
          </p:cNvPr>
          <p:cNvSpPr txBox="1"/>
          <p:nvPr/>
        </p:nvSpPr>
        <p:spPr>
          <a:xfrm>
            <a:off x="10676238" y="195848"/>
            <a:ext cx="1705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July 1,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E8E47-4257-F52C-A4C9-BE6EE46F9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25" y="2466803"/>
            <a:ext cx="3813778" cy="3813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DBCF1F-B563-4A4B-AA05-DBA41BA34A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368" y="2466803"/>
            <a:ext cx="3813778" cy="381377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3B278EC-CB2F-1F67-8B57-403B8F307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9" y="151884"/>
            <a:ext cx="11417643" cy="80876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Observing First Muons – Results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6E7DC-CDBA-0C7A-85D2-2CE64D871A20}"/>
              </a:ext>
            </a:extLst>
          </p:cNvPr>
          <p:cNvSpPr/>
          <p:nvPr/>
        </p:nvSpPr>
        <p:spPr>
          <a:xfrm>
            <a:off x="5251637" y="2143638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DE8C12-EAD8-D4FC-1034-8C219591FCE2}"/>
              </a:ext>
            </a:extLst>
          </p:cNvPr>
          <p:cNvSpPr/>
          <p:nvPr/>
        </p:nvSpPr>
        <p:spPr>
          <a:xfrm>
            <a:off x="5251637" y="1925599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4A2142-D67F-A695-B09C-900FCFEA9CB8}"/>
              </a:ext>
            </a:extLst>
          </p:cNvPr>
          <p:cNvSpPr txBox="1"/>
          <p:nvPr/>
        </p:nvSpPr>
        <p:spPr>
          <a:xfrm>
            <a:off x="6215278" y="1820472"/>
            <a:ext cx="300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stacked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(signal + background)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E58CF4-C415-6BA3-50D7-E9479F597E4B}"/>
              </a:ext>
            </a:extLst>
          </p:cNvPr>
          <p:cNvSpPr txBox="1"/>
          <p:nvPr/>
        </p:nvSpPr>
        <p:spPr>
          <a:xfrm>
            <a:off x="8995718" y="3708369"/>
            <a:ext cx="2767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Low gain output </a:t>
            </a:r>
            <a:br>
              <a:rPr lang="en-US" dirty="0"/>
            </a:br>
            <a:r>
              <a:rPr lang="en-US" dirty="0"/>
              <a:t>is not saturating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BCFE13-E718-98B0-1518-19363777294E}"/>
              </a:ext>
            </a:extLst>
          </p:cNvPr>
          <p:cNvSpPr/>
          <p:nvPr/>
        </p:nvSpPr>
        <p:spPr>
          <a:xfrm>
            <a:off x="864975" y="2137118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27B532-8D8A-5B29-C3ED-68D5017C0731}"/>
              </a:ext>
            </a:extLst>
          </p:cNvPr>
          <p:cNvSpPr/>
          <p:nvPr/>
        </p:nvSpPr>
        <p:spPr>
          <a:xfrm>
            <a:off x="864975" y="1919079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1B85E-FA37-F52C-430C-DDD3B9ABA0B3}"/>
              </a:ext>
            </a:extLst>
          </p:cNvPr>
          <p:cNvSpPr txBox="1"/>
          <p:nvPr/>
        </p:nvSpPr>
        <p:spPr>
          <a:xfrm>
            <a:off x="1828616" y="1813952"/>
            <a:ext cx="300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stacked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(signal + background)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471E6-4237-9E6C-8F88-0AE728F6B010}"/>
              </a:ext>
            </a:extLst>
          </p:cNvPr>
          <p:cNvSpPr txBox="1"/>
          <p:nvPr/>
        </p:nvSpPr>
        <p:spPr>
          <a:xfrm>
            <a:off x="1371600" y="6287101"/>
            <a:ext cx="316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gain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295448-ABD7-110F-4F0C-F0217A943A41}"/>
              </a:ext>
            </a:extLst>
          </p:cNvPr>
          <p:cNvSpPr txBox="1"/>
          <p:nvPr/>
        </p:nvSpPr>
        <p:spPr>
          <a:xfrm>
            <a:off x="5904640" y="6287101"/>
            <a:ext cx="316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gain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F5CCFE-9D3A-7BF4-BE41-CE6C056E250F}"/>
              </a:ext>
            </a:extLst>
          </p:cNvPr>
          <p:cNvSpPr txBox="1"/>
          <p:nvPr/>
        </p:nvSpPr>
        <p:spPr>
          <a:xfrm>
            <a:off x="428368" y="886509"/>
            <a:ext cx="630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for 10 minutes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Plot signals on channel 1 vs. channel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071AC5-878C-DA47-0332-C8CFC13C8E6C}"/>
              </a:ext>
            </a:extLst>
          </p:cNvPr>
          <p:cNvSpPr txBox="1"/>
          <p:nvPr/>
        </p:nvSpPr>
        <p:spPr>
          <a:xfrm>
            <a:off x="7486058" y="922604"/>
            <a:ext cx="45843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bias voltage 28V, trigger threshold 400</a:t>
            </a:r>
          </a:p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full config at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July1_10mins_stacked_28V_TD400.conf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989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51B3-3E9D-58EF-21B7-89C323F0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823926-5A42-E110-3F19-F32F50628576}"/>
              </a:ext>
            </a:extLst>
          </p:cNvPr>
          <p:cNvSpPr txBox="1"/>
          <p:nvPr/>
        </p:nvSpPr>
        <p:spPr>
          <a:xfrm>
            <a:off x="10676238" y="195848"/>
            <a:ext cx="1705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July 1,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626B3-4B1E-6764-E737-009A45FE0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25" y="2466803"/>
            <a:ext cx="3813778" cy="3813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C8F195-B7A5-0E2F-CA02-1F70E85CC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368" y="2466803"/>
            <a:ext cx="3813778" cy="381377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0F6492E-EF48-7F62-8FF4-2E5AF560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9" y="151884"/>
            <a:ext cx="11417643" cy="80876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Observing First Muons – Results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6A63A1-53E8-836F-9A20-6831F44475DB}"/>
              </a:ext>
            </a:extLst>
          </p:cNvPr>
          <p:cNvSpPr/>
          <p:nvPr/>
        </p:nvSpPr>
        <p:spPr>
          <a:xfrm>
            <a:off x="5251637" y="2143638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A83EE2-7148-8209-81E0-9E73FB1F45DD}"/>
              </a:ext>
            </a:extLst>
          </p:cNvPr>
          <p:cNvSpPr/>
          <p:nvPr/>
        </p:nvSpPr>
        <p:spPr>
          <a:xfrm>
            <a:off x="5251637" y="1925599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49DF65-9620-ACC7-087A-065A6E532308}"/>
              </a:ext>
            </a:extLst>
          </p:cNvPr>
          <p:cNvSpPr txBox="1"/>
          <p:nvPr/>
        </p:nvSpPr>
        <p:spPr>
          <a:xfrm>
            <a:off x="6215278" y="1820472"/>
            <a:ext cx="300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stacked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(signal + background)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FBFA3A-A8A4-28C3-35B0-6825A624795D}"/>
              </a:ext>
            </a:extLst>
          </p:cNvPr>
          <p:cNvSpPr txBox="1"/>
          <p:nvPr/>
        </p:nvSpPr>
        <p:spPr>
          <a:xfrm>
            <a:off x="8760428" y="3708369"/>
            <a:ext cx="3167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Reducing HG gain from 50 to 25 reduces but does not eliminate saturation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828499-DA70-8E0B-DD38-3EDDF6FC0036}"/>
              </a:ext>
            </a:extLst>
          </p:cNvPr>
          <p:cNvSpPr/>
          <p:nvPr/>
        </p:nvSpPr>
        <p:spPr>
          <a:xfrm>
            <a:off x="864975" y="2137118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78BA0E-AF97-4ECD-983A-DCDAC3DAF440}"/>
              </a:ext>
            </a:extLst>
          </p:cNvPr>
          <p:cNvSpPr/>
          <p:nvPr/>
        </p:nvSpPr>
        <p:spPr>
          <a:xfrm>
            <a:off x="864975" y="1919079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FBD76-A16D-F1B2-DDB8-CAF11C3579DD}"/>
              </a:ext>
            </a:extLst>
          </p:cNvPr>
          <p:cNvSpPr txBox="1"/>
          <p:nvPr/>
        </p:nvSpPr>
        <p:spPr>
          <a:xfrm>
            <a:off x="1828616" y="1813952"/>
            <a:ext cx="300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stacked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(signal + background)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0BFA5-F96D-C877-C22B-32C9013B9EC2}"/>
              </a:ext>
            </a:extLst>
          </p:cNvPr>
          <p:cNvSpPr txBox="1"/>
          <p:nvPr/>
        </p:nvSpPr>
        <p:spPr>
          <a:xfrm>
            <a:off x="1371600" y="6287101"/>
            <a:ext cx="316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 = 25 (47 events)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3250C-0725-16D3-1E09-46453D8F5A2F}"/>
              </a:ext>
            </a:extLst>
          </p:cNvPr>
          <p:cNvSpPr txBox="1"/>
          <p:nvPr/>
        </p:nvSpPr>
        <p:spPr>
          <a:xfrm>
            <a:off x="5904640" y="6287101"/>
            <a:ext cx="316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 = 50 (56 events)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6E600-DD3E-8189-F51E-CE54F6B04768}"/>
              </a:ext>
            </a:extLst>
          </p:cNvPr>
          <p:cNvSpPr txBox="1"/>
          <p:nvPr/>
        </p:nvSpPr>
        <p:spPr>
          <a:xfrm>
            <a:off x="428368" y="886509"/>
            <a:ext cx="630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for 10 minutes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Plot signals on channel 1 vs. channel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DCE7DE-CC07-9C9B-3964-4DC3C275A2B3}"/>
              </a:ext>
            </a:extLst>
          </p:cNvPr>
          <p:cNvSpPr txBox="1"/>
          <p:nvPr/>
        </p:nvSpPr>
        <p:spPr>
          <a:xfrm>
            <a:off x="7486058" y="922604"/>
            <a:ext cx="45843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bias voltage 28V, trigger threshold 400</a:t>
            </a:r>
          </a:p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full config at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July1_10mins_stacked_28V_TD400.conf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713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0E467-1371-257B-80D8-A2C9ED42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C82425-FCD5-E1F0-5495-CCF922F7E5AD}"/>
              </a:ext>
            </a:extLst>
          </p:cNvPr>
          <p:cNvSpPr txBox="1"/>
          <p:nvPr/>
        </p:nvSpPr>
        <p:spPr>
          <a:xfrm>
            <a:off x="10676238" y="195848"/>
            <a:ext cx="1705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July 1,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E31B8-9383-AF99-43BC-22935DC49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25" y="2466803"/>
            <a:ext cx="3813778" cy="3813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582DBD-6874-1A1F-C972-6B764E36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368" y="2466803"/>
            <a:ext cx="3813778" cy="381377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F28B818-F7BB-1CF6-2F0D-1ADC2FF20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989" y="151884"/>
            <a:ext cx="11417643" cy="80876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Observing First Muons – Results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2D7E25-E9D9-EB3E-C240-77EA8814A1E7}"/>
              </a:ext>
            </a:extLst>
          </p:cNvPr>
          <p:cNvSpPr/>
          <p:nvPr/>
        </p:nvSpPr>
        <p:spPr>
          <a:xfrm>
            <a:off x="5251637" y="2143638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DE9E83-DDCF-6371-2E17-F5BDD8E600EE}"/>
              </a:ext>
            </a:extLst>
          </p:cNvPr>
          <p:cNvSpPr/>
          <p:nvPr/>
        </p:nvSpPr>
        <p:spPr>
          <a:xfrm>
            <a:off x="5251637" y="1925599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0016C7-FB87-7FDC-D8D0-4BEDF965D626}"/>
              </a:ext>
            </a:extLst>
          </p:cNvPr>
          <p:cNvSpPr txBox="1"/>
          <p:nvPr/>
        </p:nvSpPr>
        <p:spPr>
          <a:xfrm>
            <a:off x="6215278" y="1820472"/>
            <a:ext cx="300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stacked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(signal + background)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D76EFD-B085-A771-63F8-43C6ED3F797F}"/>
              </a:ext>
            </a:extLst>
          </p:cNvPr>
          <p:cNvSpPr txBox="1"/>
          <p:nvPr/>
        </p:nvSpPr>
        <p:spPr>
          <a:xfrm>
            <a:off x="8760428" y="3708369"/>
            <a:ext cx="3167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Reducing HG gain from 50 to 15 still doesn’t eliminate saturation, and the rate has gone down quite a bit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D69C2C-FCEC-463B-B109-EE35CDDD24FF}"/>
              </a:ext>
            </a:extLst>
          </p:cNvPr>
          <p:cNvSpPr/>
          <p:nvPr/>
        </p:nvSpPr>
        <p:spPr>
          <a:xfrm>
            <a:off x="864975" y="2137118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70894-7A78-1777-3A0E-A177AB4D5D55}"/>
              </a:ext>
            </a:extLst>
          </p:cNvPr>
          <p:cNvSpPr/>
          <p:nvPr/>
        </p:nvSpPr>
        <p:spPr>
          <a:xfrm>
            <a:off x="864975" y="1919079"/>
            <a:ext cx="840259" cy="1853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B178D-607F-8514-5C73-2F60355E7ED2}"/>
              </a:ext>
            </a:extLst>
          </p:cNvPr>
          <p:cNvSpPr txBox="1"/>
          <p:nvPr/>
        </p:nvSpPr>
        <p:spPr>
          <a:xfrm>
            <a:off x="1828616" y="1813952"/>
            <a:ext cx="3003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stacked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(signal + background)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41846-AB53-6890-E502-063FAAEF75B8}"/>
              </a:ext>
            </a:extLst>
          </p:cNvPr>
          <p:cNvSpPr txBox="1"/>
          <p:nvPr/>
        </p:nvSpPr>
        <p:spPr>
          <a:xfrm>
            <a:off x="1371600" y="6287101"/>
            <a:ext cx="316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 = 15 (19 events)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B32C2-0907-DAB0-2997-CD1F8DF7501A}"/>
              </a:ext>
            </a:extLst>
          </p:cNvPr>
          <p:cNvSpPr txBox="1"/>
          <p:nvPr/>
        </p:nvSpPr>
        <p:spPr>
          <a:xfrm>
            <a:off x="5904640" y="6287101"/>
            <a:ext cx="316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 = 50 (56 events)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15EE0-36F5-60FB-52C4-FF1FEE044652}"/>
              </a:ext>
            </a:extLst>
          </p:cNvPr>
          <p:cNvSpPr txBox="1"/>
          <p:nvPr/>
        </p:nvSpPr>
        <p:spPr>
          <a:xfrm>
            <a:off x="428368" y="886509"/>
            <a:ext cx="630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for 10 minutes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Plot signals on channel 1 vs. channel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988B1-D835-F34C-8138-D66FDCE535C8}"/>
              </a:ext>
            </a:extLst>
          </p:cNvPr>
          <p:cNvSpPr txBox="1"/>
          <p:nvPr/>
        </p:nvSpPr>
        <p:spPr>
          <a:xfrm>
            <a:off x="7486058" y="922604"/>
            <a:ext cx="45843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bias voltage 28V, trigger threshold 400</a:t>
            </a:r>
          </a:p>
          <a:p>
            <a:pPr algn="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full config at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July1_10mins_stacked_28V_TD400.conf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236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421</Words>
  <Application>Microsoft Macintosh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Wingdings</vt:lpstr>
      <vt:lpstr>Office Theme</vt:lpstr>
      <vt:lpstr>Muonix Detector Prototype Logbook</vt:lpstr>
      <vt:lpstr>Observing First Muons – Experimental Setup</vt:lpstr>
      <vt:lpstr>Observing First Muons – Results</vt:lpstr>
      <vt:lpstr>Observing First Muons – Results</vt:lpstr>
      <vt:lpstr>Observing First Muons – Results</vt:lpstr>
      <vt:lpstr>Observing First Muons –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Hooberman</dc:creator>
  <cp:lastModifiedBy>Ben Hooberman</cp:lastModifiedBy>
  <cp:revision>14</cp:revision>
  <dcterms:created xsi:type="dcterms:W3CDTF">2026-07-01T19:52:04Z</dcterms:created>
  <dcterms:modified xsi:type="dcterms:W3CDTF">2026-07-01T21:17:17Z</dcterms:modified>
</cp:coreProperties>
</file>